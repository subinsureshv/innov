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23" autoAdjust="0"/>
    <p:restoredTop sz="94660"/>
  </p:normalViewPr>
  <p:slideViewPr>
    <p:cSldViewPr snapToGrid="0">
      <p:cViewPr varScale="1">
        <p:scale>
          <a:sx n="85" d="100"/>
          <a:sy n="85" d="100"/>
        </p:scale>
        <p:origin x="66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084E5-6AFC-4BA0-9AEE-DF597AA46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4E192B-780C-4832-9D8B-BE4D29909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10D2F-2C26-458F-8134-01D8A444F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326E6-BC5E-4D37-9D78-74471E26453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CDC91-B362-4D22-B8E3-0A458A8A6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92B97-9CFD-4663-B7DE-B70642A2A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AB40E-CB0B-4DFA-B805-BF3D49382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563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7D294-4503-42BA-AC33-4051AE787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FE270-C832-47E0-81D9-F13383CDD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D429D-9FD5-4950-A581-401667FB3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326E6-BC5E-4D37-9D78-74471E26453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2C4B7-3975-4A26-93C7-65088FDF9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A98AD-94B0-426D-B972-41F4AA9F3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AB40E-CB0B-4DFA-B805-BF3D49382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411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21343-E75B-451D-872A-CE227A8DC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4DB0E-B7A5-48DE-A1E2-652190A64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6CAED-ACC9-42F6-AF8C-C76F09124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326E6-BC5E-4D37-9D78-74471E26453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407D4-D188-4A56-8349-6C0E0731A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79056-C45A-4F67-94E7-E59D50105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AB40E-CB0B-4DFA-B805-BF3D49382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375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64882-8ACD-44AE-87E3-39BBFC238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C43C2-0606-4B55-8C1C-0E3F4CA8EA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8EC046-3DF1-4AAD-A8EF-04694E1BE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B7636-EC91-4D63-A790-89AED2E1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326E6-BC5E-4D37-9D78-74471E26453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E69925-C8CA-42AF-A79F-CB818B11A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CF1AC-D075-4650-A09E-1D3BCDEFF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AB40E-CB0B-4DFA-B805-BF3D49382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637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E5781-4739-461E-BD25-7B9A40848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C2496-487A-47A9-B057-59171528D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FA6830-3C5C-4D83-B579-EF885F0D8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307C68-123A-4057-9432-6E3068E65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D3950D-2A46-4E46-AFA6-3EB6178035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AA4FC5-AA7A-45C4-BA88-CBEE72161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326E6-BC5E-4D37-9D78-74471E26453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73DD2C-2324-459A-858F-29C95478E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39B7C1-0042-4387-823F-46358B869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AB40E-CB0B-4DFA-B805-BF3D49382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033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79A09-F45A-4241-9605-A22F06CC2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7B7B43-ABC2-469C-BE48-FEED7A4FB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326E6-BC5E-4D37-9D78-74471E26453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774547-0508-4263-B01F-24B557310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C098B1-3C92-46C1-95EE-BC8626E52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AB40E-CB0B-4DFA-B805-BF3D49382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079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034BA-24A0-4188-B489-FFCD3B370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326E6-BC5E-4D37-9D78-74471E26453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DE650E-3811-4312-A551-A6462A10C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92B96-2014-4835-AFD9-E8F92D0BC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AB40E-CB0B-4DFA-B805-BF3D49382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065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E6717-19C2-433C-9F33-3C0543A96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BAD04-9282-4F4B-94F2-52EB90A83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A56CD0-0150-408A-8777-74E53AF61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1EC5E7-967C-4956-9AE5-B15DA74D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326E6-BC5E-4D37-9D78-74471E26453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5CE4C1-AEE1-4CD3-A606-6DC970AD8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33C05-5756-43C4-AA9E-42A6BB297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AB40E-CB0B-4DFA-B805-BF3D49382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079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0ABFC-3E41-4EB1-B946-0AF31BAF5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64A3BD-EE0D-4AB5-8F91-FFD8A63F73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31216A-11D9-4F5D-BD21-DF4C71511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81A30-E94C-4D5B-B600-4213E5930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326E6-BC5E-4D37-9D78-74471E26453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C309E0-274B-455A-8752-C5FD87924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58FDC-298F-4D0F-8341-21F4CD361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AB40E-CB0B-4DFA-B805-BF3D49382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088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5EF2-B0D6-4102-BB65-BE8E0DFA1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FDFF19-56CD-4096-8197-2D79BC473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73A07-9B70-4232-A184-8D2F7BD3B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326E6-BC5E-4D37-9D78-74471E26453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4A0EC-6277-4727-AEB7-4CD5D0CE0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9200E-7DDC-45F5-95CF-3D447B24E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AB40E-CB0B-4DFA-B805-BF3D49382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9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DC03E9-5456-41C3-ABDF-16819DE6C7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D0406B-8BA0-4BC7-A584-8B30EDEF2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98719-FA2F-4328-BBD1-22756254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326E6-BC5E-4D37-9D78-74471E26453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8026D-4621-4818-A167-F16164EE5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AD72D-A810-42A9-ADE1-F48929F38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AB40E-CB0B-4DFA-B805-BF3D49382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042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12F022-BB20-45CF-8574-0002C9D8F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A1F6C-FE17-4B6F-9394-799CE1F70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42C35-956A-4656-85E3-13BE5C19E3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326E6-BC5E-4D37-9D78-74471E26453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B59F2-35A0-4655-AEE4-1F2598E7D8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BCB81-A9A8-4094-A202-BF281FB9C9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8AB40E-CB0B-4DFA-B805-BF3D49382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79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5A25F-24C6-4563-AAAC-3F05FB39C1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en-IN" dirty="0"/>
              <a:t>Project FastTrack</a:t>
            </a:r>
            <a:br>
              <a:rPr lang="en-IN" dirty="0"/>
            </a:br>
            <a:r>
              <a:rPr lang="en-IN" sz="3600" dirty="0"/>
              <a:t>Agentic Automation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2A5762-DF6E-4C7B-8DFD-AFE9A0D1D3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                                                                                                    By Subin </a:t>
            </a:r>
            <a:r>
              <a:rPr lang="en-US" dirty="0" err="1"/>
              <a:t>suresh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6891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09E32-3E9C-4688-B7B5-2412CCAAD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Current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A6F18-E504-4B4E-959C-FA02CEC7D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8775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1. Receive underwriter email</a:t>
            </a:r>
          </a:p>
          <a:p>
            <a:pPr marL="0" indent="0">
              <a:buNone/>
            </a:pPr>
            <a:r>
              <a:rPr lang="en-US" dirty="0"/>
              <a:t>The underwriter sends an email containing the details required to process the submission.</a:t>
            </a:r>
          </a:p>
          <a:p>
            <a:pPr marL="0" indent="0">
              <a:buNone/>
            </a:pPr>
            <a:r>
              <a:rPr lang="en-US" b="1" dirty="0"/>
              <a:t>2. Extract key information</a:t>
            </a:r>
          </a:p>
          <a:p>
            <a:pPr marL="0" indent="0">
              <a:buNone/>
            </a:pPr>
            <a:r>
              <a:rPr lang="en-US" dirty="0"/>
              <a:t>The user opens the email and identifies the required insurance and policy details.</a:t>
            </a:r>
          </a:p>
          <a:p>
            <a:pPr marL="0" indent="0">
              <a:buNone/>
            </a:pPr>
            <a:r>
              <a:rPr lang="en-US" b="1" dirty="0"/>
              <a:t>3. Check for duplicates in CWB</a:t>
            </a:r>
          </a:p>
          <a:p>
            <a:pPr marL="0" indent="0">
              <a:buNone/>
            </a:pPr>
            <a:r>
              <a:rPr lang="en-US" dirty="0"/>
              <a:t>Search for any duplicate submissions in CWB before creating a submission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4. Enter details into CWB</a:t>
            </a:r>
          </a:p>
          <a:p>
            <a:pPr marL="0" indent="0">
              <a:buNone/>
            </a:pPr>
            <a:r>
              <a:rPr lang="en-US" dirty="0"/>
              <a:t>The user manually transfers the information from the email into the CWB application , creates a submission number and send it to the CAT modelling team and Underwriter.</a:t>
            </a:r>
          </a:p>
          <a:p>
            <a:pPr marL="0" indent="0">
              <a:buNone/>
            </a:pPr>
            <a:r>
              <a:rPr lang="en-US" b="1" dirty="0"/>
              <a:t>5. Complete within SLA</a:t>
            </a:r>
          </a:p>
          <a:p>
            <a:pPr marL="0" indent="0">
              <a:buNone/>
            </a:pPr>
            <a:r>
              <a:rPr lang="en-US" dirty="0"/>
              <a:t>The task must be completed within 4 hours.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8587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31F52-D40C-4685-A3F6-A5F760834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1. Agentic Automation Project Overview</a:t>
            </a:r>
            <a:br>
              <a:rPr lang="en-IN" sz="3600" b="1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E72E0-0580-4BD3-A948-401FF493C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Create a detailed, professional business process flowchart for </a:t>
            </a:r>
            <a:r>
              <a:rPr lang="en-US" sz="2600" b="1" dirty="0"/>
              <a:t>Project FastTrack — AI-Powered Insurance Submission Automation </a:t>
            </a:r>
          </a:p>
          <a:p>
            <a:r>
              <a:rPr lang="en-US" sz="2600" dirty="0"/>
              <a:t>The purpose of this automation is to streamline the insurance submission process that begins when an underwriter sends a request to the Submission FastTrack mailbox and ends when the existing or newly created submission number is communicated to the CAT Modeling team and the underwriter.</a:t>
            </a:r>
          </a:p>
          <a:p>
            <a:r>
              <a:rPr lang="en-US" sz="2600" dirty="0"/>
              <a:t>The process must reduce manual effort, improve data accuracy, prevent duplicate submissions, automate missing-information follow-ups, and help ensure compliance with the four-hour turnaround time (TAT/SLA).</a:t>
            </a:r>
          </a:p>
          <a:p>
            <a:pPr marL="0" indent="0">
              <a:buNone/>
            </a:pP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935714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DE156-ABD9-4545-B331-AC341D5C1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2. Process Participants and System Components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CA9EF-E00D-4733-B6FC-5D9A8EC61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Underwriter</a:t>
            </a:r>
            <a:r>
              <a:rPr lang="en-US" dirty="0"/>
              <a:t> — Sends the initial submission request and provides missing information when requested.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Outlook — Submission FastTrack Mailbox</a:t>
            </a:r>
            <a:r>
              <a:rPr lang="en-US" dirty="0"/>
              <a:t> — Receives submission emails and underwriter replies.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AI Agent</a:t>
            </a:r>
            <a:r>
              <a:rPr lang="en-US" dirty="0"/>
              <a:t> — Reads email content and attachments, extracts required information, validates mandatory fields, and requests missing information.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UiPath Automation Bot</a:t>
            </a:r>
            <a:r>
              <a:rPr lang="en-US" dirty="0"/>
              <a:t> — Interacts with the CWB application, checks for duplicates, enters submission details, creates submissions, retrieves submission numbers, and handles system exceptions.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CWB Application</a:t>
            </a:r>
            <a:r>
              <a:rPr lang="en-US" dirty="0"/>
              <a:t> — Used to search existing submissions and create new submission records.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CAT Modeling Team</a:t>
            </a:r>
            <a:r>
              <a:rPr lang="en-US" dirty="0"/>
              <a:t> — Receives the relevant existing or newly created submission number for further processing.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Exception Monitoring Mailbox</a:t>
            </a:r>
            <a:r>
              <a:rPr lang="en-US" dirty="0"/>
              <a:t> — Receives failed cases after the bot exhausts its retry attempts.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Dedicated Employee</a:t>
            </a:r>
            <a:r>
              <a:rPr lang="en-US" dirty="0"/>
              <a:t>— Monitors the exception mailbox, reviews failed cases, investigates issues, and coordinates resolution.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SLA and Reporting</a:t>
            </a:r>
            <a:r>
              <a:rPr lang="en-US" dirty="0"/>
              <a:t> — which Tracks the  outcomes, failures, and the four-hour SLA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2320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14503-1098-47B1-9179-38E7EAD86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164" y="2624231"/>
            <a:ext cx="10515600" cy="1325563"/>
          </a:xfrm>
        </p:spPr>
        <p:txBody>
          <a:bodyPr/>
          <a:lstStyle/>
          <a:p>
            <a:r>
              <a:rPr lang="en-IN" b="1" dirty="0"/>
              <a:t>3. Detailed End-to-End </a:t>
            </a:r>
            <a:r>
              <a:rPr lang="en-IN" b="1" dirty="0" err="1"/>
              <a:t>AutomationWorkflow</a:t>
            </a:r>
            <a:br>
              <a:rPr lang="en-IN" b="1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7794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4C82C-5F94-4C65-B641-D8363C308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Phase 1: Receive the Submission Request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509F5-FCE9-491B-81B2-93A7EA636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The underwriter sends an email containing the insurance submission request to the Submission FastTrack mailbox.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email may contain the required information in the email body, attached slips, and supporting documents.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mailbox receives the email.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incoming email automatically triggers the AI agent.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a process record or tracking reference for the request so that the original email, subsequent replies, processing status, and final outcome can be associated with the same case.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5652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755CC-DDED-4409-803C-F18880392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Phase 2: AI-Powered Information Extraction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7D266-4B49-4096-AE57-8963E19BE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+mj-lt"/>
              <a:buAutoNum type="arabicPeriod" startAt="6"/>
            </a:pPr>
            <a:r>
              <a:rPr lang="en-US" dirty="0"/>
              <a:t>The AI agent reads the email body and inspects the attached slips and supporting documents.</a:t>
            </a:r>
          </a:p>
          <a:p>
            <a:pPr>
              <a:buFont typeface="+mj-lt"/>
              <a:buAutoNum type="arabicPeriod" startAt="6"/>
            </a:pPr>
            <a:r>
              <a:rPr lang="en-US" dirty="0"/>
              <a:t>The AI agent extracts the following required fields:</a:t>
            </a:r>
          </a:p>
          <a:p>
            <a:pPr marL="742950" lvl="1" indent="-285750">
              <a:buFont typeface="+mj-lt"/>
              <a:buAutoNum type="arabicPeriod" startAt="6"/>
            </a:pPr>
            <a:r>
              <a:rPr lang="en-US" dirty="0"/>
              <a:t>Main insured</a:t>
            </a:r>
          </a:p>
          <a:p>
            <a:pPr marL="742950" lvl="1" indent="-285750">
              <a:buFont typeface="+mj-lt"/>
              <a:buAutoNum type="arabicPeriod" startAt="6"/>
            </a:pPr>
            <a:r>
              <a:rPr lang="en-US" dirty="0"/>
              <a:t>Broker name</a:t>
            </a:r>
          </a:p>
          <a:p>
            <a:pPr marL="742950" lvl="1" indent="-285750">
              <a:buFont typeface="+mj-lt"/>
              <a:buAutoNum type="arabicPeriod" startAt="6"/>
            </a:pPr>
            <a:r>
              <a:rPr lang="en-US" dirty="0"/>
              <a:t>Quote required by date (retain the exact business field name; confirm its definition with the process owner)</a:t>
            </a:r>
          </a:p>
          <a:p>
            <a:pPr marL="742950" lvl="1" indent="-285750">
              <a:buFont typeface="+mj-lt"/>
              <a:buAutoNum type="arabicPeriod" startAt="6"/>
            </a:pPr>
            <a:r>
              <a:rPr lang="en-US" dirty="0"/>
              <a:t>Received date</a:t>
            </a:r>
          </a:p>
          <a:p>
            <a:pPr marL="742950" lvl="1" indent="-285750">
              <a:buFont typeface="+mj-lt"/>
              <a:buAutoNum type="arabicPeriod" startAt="6"/>
            </a:pPr>
            <a:r>
              <a:rPr lang="en-US" dirty="0"/>
              <a:t>Inception date</a:t>
            </a:r>
          </a:p>
          <a:p>
            <a:pPr marL="742950" lvl="1" indent="-285750">
              <a:buFont typeface="+mj-lt"/>
              <a:buAutoNum type="arabicPeriod" startAt="6"/>
            </a:pPr>
            <a:r>
              <a:rPr lang="en-US" dirty="0"/>
              <a:t>Expiry date</a:t>
            </a:r>
          </a:p>
          <a:p>
            <a:pPr marL="742950" lvl="1" indent="-285750">
              <a:buFont typeface="+mj-lt"/>
              <a:buAutoNum type="arabicPeriod" startAt="6"/>
            </a:pPr>
            <a:r>
              <a:rPr lang="en-US" dirty="0"/>
              <a:t>Currency</a:t>
            </a:r>
          </a:p>
          <a:p>
            <a:pPr marL="742950" lvl="1" indent="-285750">
              <a:buFont typeface="+mj-lt"/>
              <a:buAutoNum type="arabicPeriod" startAt="6"/>
            </a:pPr>
            <a:r>
              <a:rPr lang="en-US" dirty="0"/>
              <a:t>AOC code</a:t>
            </a:r>
          </a:p>
          <a:p>
            <a:pPr marL="742950" lvl="1" indent="-285750">
              <a:buFont typeface="+mj-lt"/>
              <a:buAutoNum type="arabicPeriod" startAt="6"/>
            </a:pPr>
            <a:r>
              <a:rPr lang="en-US" dirty="0"/>
              <a:t>Allianz operating entity</a:t>
            </a:r>
          </a:p>
          <a:p>
            <a:pPr marL="742950" lvl="1" indent="-285750">
              <a:buFont typeface="+mj-lt"/>
              <a:buAutoNum type="arabicPeriod" startAt="6"/>
            </a:pPr>
            <a:r>
              <a:rPr lang="en-US" dirty="0"/>
              <a:t>Underwriter name</a:t>
            </a:r>
          </a:p>
          <a:p>
            <a:pPr>
              <a:buFont typeface="+mj-lt"/>
              <a:buAutoNum type="arabicPeriod" startAt="6"/>
            </a:pPr>
            <a:r>
              <a:rPr lang="en-US" dirty="0"/>
              <a:t>The AI agent consolidates the extracted information into a structured submission data record.</a:t>
            </a:r>
          </a:p>
          <a:p>
            <a:pPr>
              <a:buFont typeface="+mj-lt"/>
              <a:buAutoNum type="arabicPeriod" startAt="6"/>
            </a:pPr>
            <a:r>
              <a:rPr lang="en-US" dirty="0"/>
              <a:t>The AI agent validates the extracted fields against the mandatory-field rules, expected formats, and available source documents.</a:t>
            </a:r>
          </a:p>
          <a:p>
            <a:pPr>
              <a:buFont typeface="+mj-lt"/>
              <a:buAutoNum type="arabicPeriod" startAt="6"/>
            </a:pPr>
            <a:r>
              <a:rPr lang="en-US" dirty="0"/>
              <a:t>Add a decision diamond: </a:t>
            </a:r>
            <a:r>
              <a:rPr lang="en-US" b="1" dirty="0"/>
              <a:t>“Are all mandatory details available and valid?”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4039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8B8D6-8556-406C-9D67-3F6C9918B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Phase 3: Missing-Information Handling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6F854-D3A6-4B39-915D-7B7523EA6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Font typeface="+mj-lt"/>
              <a:buAutoNum type="arabicPeriod" startAt="11"/>
            </a:pPr>
            <a:r>
              <a:rPr lang="en-US" dirty="0"/>
              <a:t>If the answer is </a:t>
            </a:r>
            <a:r>
              <a:rPr lang="en-US" b="1" dirty="0"/>
              <a:t>NO</a:t>
            </a:r>
            <a:r>
              <a:rPr lang="en-US" dirty="0"/>
              <a:t>:</a:t>
            </a:r>
          </a:p>
          <a:p>
            <a:r>
              <a:rPr lang="en-US" dirty="0"/>
              <a:t>a. Identify the missing or invalid fields.</a:t>
            </a:r>
          </a:p>
          <a:p>
            <a:r>
              <a:rPr lang="en-US" dirty="0"/>
              <a:t>b. Generate an email to the original underwriter requesting the specific information required.</a:t>
            </a:r>
          </a:p>
          <a:p>
            <a:r>
              <a:rPr lang="en-US" dirty="0"/>
              <a:t>c. Send the email through Outlook.</a:t>
            </a:r>
          </a:p>
          <a:p>
            <a:r>
              <a:rPr lang="en-US" dirty="0"/>
              <a:t>d. Set the request status to “Awaiting Underwriter Information.”</a:t>
            </a:r>
          </a:p>
          <a:p>
            <a:r>
              <a:rPr lang="en-US" dirty="0"/>
              <a:t>e. Wait for the underwriter's reply.</a:t>
            </a:r>
          </a:p>
          <a:p>
            <a:r>
              <a:rPr lang="en-US" dirty="0"/>
              <a:t>f. When a reply arrives, associate it with the correct pending request using the email thread or tracking reference.</a:t>
            </a:r>
          </a:p>
          <a:p>
            <a:r>
              <a:rPr lang="en-US" dirty="0"/>
              <a:t>g. Trigger the AI agent again to read the reply and any additional attachments.</a:t>
            </a:r>
          </a:p>
          <a:p>
            <a:r>
              <a:rPr lang="en-US" dirty="0"/>
              <a:t>h. Extract the newly provided information and merge it with the previously collected details.</a:t>
            </a:r>
          </a:p>
          <a:p>
            <a:r>
              <a:rPr lang="en-US" dirty="0" err="1"/>
              <a:t>i</a:t>
            </a:r>
            <a:r>
              <a:rPr lang="en-US" dirty="0"/>
              <a:t>. Revalidate the complete submission data.</a:t>
            </a:r>
          </a:p>
          <a:p>
            <a:r>
              <a:rPr lang="en-US" dirty="0"/>
              <a:t>j. Add a loop back to the decision point: </a:t>
            </a:r>
            <a:r>
              <a:rPr lang="en-US" b="1" dirty="0"/>
              <a:t>“Are all mandatory details available and valid?”</a:t>
            </a:r>
            <a:endParaRPr lang="en-US" dirty="0"/>
          </a:p>
          <a:p>
            <a:pPr>
              <a:buFont typeface="+mj-lt"/>
              <a:buAutoNum type="arabicPeriod" startAt="12"/>
            </a:pPr>
            <a:r>
              <a:rPr lang="en-US" dirty="0"/>
              <a:t>If the answer is </a:t>
            </a:r>
            <a:r>
              <a:rPr lang="en-US" b="1" dirty="0"/>
              <a:t>YES</a:t>
            </a:r>
            <a:r>
              <a:rPr lang="en-US" dirty="0"/>
              <a:t>, continue to the CWB duplicate-checking stage.</a:t>
            </a:r>
          </a:p>
          <a:p>
            <a:pPr>
              <a:buFont typeface="+mj-lt"/>
              <a:buAutoNum type="arabicPeriod" startAt="12"/>
            </a:pPr>
            <a:r>
              <a:rPr lang="en-US" dirty="0"/>
              <a:t>Do not proceed to duplicate checking or submission creation while mandatory information remains missing or invalid.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5395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4CEA6-B2DB-4F49-9875-EBC01B687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Phase 4: Duplicate Submission Check in CWB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B44C2-98BC-403E-8A43-0F59721D7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 startAt="14"/>
            </a:pPr>
            <a:r>
              <a:rPr lang="en-US" sz="1600" dirty="0"/>
              <a:t>The AI agent passes the validated and structured submission details to the UiPath bot.</a:t>
            </a:r>
          </a:p>
          <a:p>
            <a:pPr>
              <a:buFont typeface="+mj-lt"/>
              <a:buAutoNum type="arabicPeriod" startAt="14"/>
            </a:pPr>
            <a:r>
              <a:rPr lang="en-US" sz="1600" dirty="0"/>
              <a:t>The UiPath bot opens or accesses the CWB application using approved credentials and permissions.</a:t>
            </a:r>
          </a:p>
          <a:p>
            <a:pPr>
              <a:buFont typeface="+mj-lt"/>
              <a:buAutoNum type="arabicPeriod" startAt="14"/>
            </a:pPr>
            <a:r>
              <a:rPr lang="en-US" sz="1600" dirty="0"/>
              <a:t>The bot searches CWB for existing submissions using the agreed business matching criteria.</a:t>
            </a:r>
          </a:p>
          <a:p>
            <a:pPr>
              <a:buFont typeface="+mj-lt"/>
              <a:buAutoNum type="arabicPeriod" startAt="14"/>
            </a:pPr>
            <a:r>
              <a:rPr lang="en-US" sz="1600" dirty="0"/>
              <a:t>The bot examines the search results and determines whether a matching submission already exists.</a:t>
            </a:r>
          </a:p>
          <a:p>
            <a:pPr>
              <a:buFont typeface="+mj-lt"/>
              <a:buAutoNum type="arabicPeriod" startAt="14"/>
            </a:pPr>
            <a:r>
              <a:rPr lang="en-US" sz="1600" dirty="0"/>
              <a:t>Add a decision diamond: </a:t>
            </a:r>
            <a:r>
              <a:rPr lang="en-US" sz="1600" b="1" dirty="0"/>
              <a:t>“Is a duplicate submission found?”</a:t>
            </a:r>
            <a:endParaRPr lang="en-US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453000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F96BA-A38D-4667-89E8-807203E11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Phase 5A: Duplicate Submission Found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1C79B-D049-4D50-80FD-C5A287AF1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 startAt="19"/>
            </a:pPr>
            <a:r>
              <a:rPr lang="en-US" sz="1600" dirty="0"/>
              <a:t>If the answer is </a:t>
            </a:r>
            <a:r>
              <a:rPr lang="en-US" sz="1600" b="1" dirty="0"/>
              <a:t>YES</a:t>
            </a:r>
            <a:r>
              <a:rPr lang="en-US" sz="1600" dirty="0"/>
              <a:t>:</a:t>
            </a:r>
          </a:p>
          <a:p>
            <a:r>
              <a:rPr lang="en-US" sz="1600" dirty="0"/>
              <a:t>a. Retrieve the existing submission number from CWB.</a:t>
            </a:r>
          </a:p>
          <a:p>
            <a:r>
              <a:rPr lang="en-US" sz="1600" dirty="0"/>
              <a:t>b. Record the duplicate-check result against the request.</a:t>
            </a:r>
          </a:p>
          <a:p>
            <a:r>
              <a:rPr lang="en-US" sz="1600" dirty="0"/>
              <a:t>c. Do not create a new submission.</a:t>
            </a:r>
          </a:p>
          <a:p>
            <a:r>
              <a:rPr lang="en-US" sz="1600" dirty="0"/>
              <a:t>d. Generate an email containing the existing submission number and relevant reference information.</a:t>
            </a:r>
          </a:p>
          <a:p>
            <a:r>
              <a:rPr lang="en-US" sz="1600" dirty="0"/>
              <a:t>e. Send the email to the CAT Modeling team.</a:t>
            </a:r>
          </a:p>
          <a:p>
            <a:r>
              <a:rPr lang="en-US" sz="1600" dirty="0"/>
              <a:t>f. Mark the request as “Duplicate Found — Existing Submission Number Sent.”</a:t>
            </a:r>
          </a:p>
          <a:p>
            <a:r>
              <a:rPr lang="en-US" sz="1600" dirty="0"/>
              <a:t>g. Record the outcome in the process log and SLA report.</a:t>
            </a:r>
          </a:p>
          <a:p>
            <a:r>
              <a:rPr lang="en-US" sz="1600" dirty="0"/>
              <a:t>h. End the automated submission-creation workflow for this request.</a:t>
            </a:r>
          </a:p>
          <a:p>
            <a:pPr>
              <a:buFont typeface="+mj-lt"/>
              <a:buAutoNum type="arabicPeriod" startAt="20"/>
            </a:pPr>
            <a:r>
              <a:rPr lang="en-US" sz="1600" dirty="0"/>
              <a:t>Do not send this duplicate-case notification to the CWB team unless separately required by a future business rule.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390298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62BD8-E98D-4AD5-B4C8-330E98F90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Phase 5B: No Duplicate Submission Found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E0B05-AF5A-48C8-915B-8ABC85611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Font typeface="+mj-lt"/>
              <a:buAutoNum type="arabicPeriod" startAt="21"/>
            </a:pPr>
            <a:r>
              <a:rPr lang="en-US" dirty="0"/>
              <a:t>If the answer is </a:t>
            </a:r>
            <a:r>
              <a:rPr lang="en-US" b="1" dirty="0"/>
              <a:t>NO</a:t>
            </a:r>
            <a:r>
              <a:rPr lang="en-US" dirty="0"/>
              <a:t>:</a:t>
            </a:r>
          </a:p>
          <a:p>
            <a:r>
              <a:rPr lang="en-US" dirty="0"/>
              <a:t>a. Continue to the new submission creation stage.</a:t>
            </a:r>
          </a:p>
          <a:p>
            <a:r>
              <a:rPr lang="en-US" dirty="0"/>
              <a:t>b. The UiPath bot enters all validated information into the appropriate fields in CWB.</a:t>
            </a:r>
          </a:p>
          <a:p>
            <a:r>
              <a:rPr lang="en-US" dirty="0"/>
              <a:t>c. Verify that the required fields have been entered correctly.</a:t>
            </a:r>
          </a:p>
          <a:p>
            <a:r>
              <a:rPr lang="en-US" dirty="0"/>
              <a:t>d. Submit the record using the approved CWB workflow.</a:t>
            </a:r>
          </a:p>
          <a:p>
            <a:r>
              <a:rPr lang="en-US" dirty="0"/>
              <a:t>e. Wait for confirmation that CWB has successfully created the submission.</a:t>
            </a:r>
          </a:p>
          <a:p>
            <a:r>
              <a:rPr lang="en-US" dirty="0"/>
              <a:t>f. Retrieve the newly generated submission number.</a:t>
            </a:r>
          </a:p>
          <a:p>
            <a:r>
              <a:rPr lang="en-US" dirty="0"/>
              <a:t>g. Verify the submission number and creation status before sending notifications.</a:t>
            </a:r>
          </a:p>
          <a:p>
            <a:r>
              <a:rPr lang="en-US" dirty="0"/>
              <a:t>h. Record the new submission number against the original request.</a:t>
            </a:r>
          </a:p>
          <a:p>
            <a:endParaRPr lang="en-US" dirty="0"/>
          </a:p>
          <a:p>
            <a:pPr>
              <a:buFont typeface="+mj-lt"/>
              <a:buAutoNum type="arabicPeriod" startAt="22"/>
            </a:pPr>
            <a:r>
              <a:rPr lang="en-US" dirty="0"/>
              <a:t>Add a decision diamond: </a:t>
            </a:r>
            <a:r>
              <a:rPr lang="en-US" b="1" dirty="0"/>
              <a:t>“Was the submission created successfully and was the submission number retrieved?”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YES:</a:t>
            </a:r>
            <a:r>
              <a:rPr lang="en-US" dirty="0"/>
              <a:t> Continue to the notification stage.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NO:</a:t>
            </a:r>
            <a:r>
              <a:rPr lang="en-US" dirty="0"/>
              <a:t> Route the error to the appropriate system-exception handling process, subject to the retry and duplicate-prevention controls below.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4487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2F3B-2023-4E4F-A86C-CA260C89E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Phase 6: Notify the CAT Modeling Team and Underwriter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C50B0-5F08-407E-BD8B-B2D531287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 startAt="23"/>
            </a:pPr>
            <a:r>
              <a:rPr lang="en-US" sz="1600" dirty="0"/>
              <a:t>After successful creation of a new submission:</a:t>
            </a:r>
          </a:p>
          <a:p>
            <a:r>
              <a:rPr lang="en-US" sz="1600" dirty="0"/>
              <a:t>a. Generate an email containing the new submission number and relevant submission reference details.</a:t>
            </a:r>
          </a:p>
          <a:p>
            <a:r>
              <a:rPr lang="en-US" sz="1600" dirty="0"/>
              <a:t>b. Send the notification to the CAT Modeling team.</a:t>
            </a:r>
          </a:p>
          <a:p>
            <a:r>
              <a:rPr lang="en-US" sz="1600" dirty="0"/>
              <a:t>c. Send the notification to the original underwriter.</a:t>
            </a:r>
          </a:p>
          <a:p>
            <a:r>
              <a:rPr lang="en-US" sz="1600" dirty="0"/>
              <a:t>d. Record both notification outcomes.</a:t>
            </a:r>
          </a:p>
          <a:p>
            <a:r>
              <a:rPr lang="en-US" sz="1600" dirty="0"/>
              <a:t>e. Update the request status to “Completed — New Submission Created.”</a:t>
            </a:r>
          </a:p>
          <a:p>
            <a:pPr>
              <a:buFont typeface="+mj-lt"/>
              <a:buAutoNum type="arabicPeriod" startAt="24"/>
            </a:pPr>
            <a:r>
              <a:rPr lang="en-US" sz="1600" dirty="0"/>
              <a:t>The CAT Modeling team uses the submission number for its subsequent CAT modeling activities.</a:t>
            </a:r>
          </a:p>
          <a:p>
            <a:pPr>
              <a:buFont typeface="+mj-lt"/>
              <a:buAutoNum type="arabicPeriod" startAt="24"/>
            </a:pPr>
            <a:r>
              <a:rPr lang="en-US" sz="1600" dirty="0"/>
              <a:t>The workflow must distinguish between the two notification scenarios: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Duplicate found:</a:t>
            </a:r>
            <a:r>
              <a:rPr lang="en-US" sz="1600" dirty="0"/>
              <a:t> Send the existing submission number to the CAT Modeling team.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No duplicate found:</a:t>
            </a:r>
            <a:r>
              <a:rPr lang="en-US" sz="1600" dirty="0"/>
              <a:t> Create a new submission and send the new submission number to both the CAT Modeling team and the underwriter.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137896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7CEC5-871B-488D-B158-63D46B47E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Phase 7: System Exception Handling and Retry Mechanism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E8130-E181-4D7C-9A6E-881CEC357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buFont typeface="+mj-lt"/>
              <a:buAutoNum type="arabicPeriod" startAt="26"/>
            </a:pPr>
            <a:r>
              <a:rPr lang="en-US" dirty="0"/>
              <a:t>At every relevant UiPath execution stage, monitor for system exceptions, including temporary application failures, unexpected application states, timeouts, and recoverable UI interaction errors.</a:t>
            </a:r>
          </a:p>
          <a:p>
            <a:pPr>
              <a:buFont typeface="+mj-lt"/>
              <a:buAutoNum type="arabicPeriod" startAt="26"/>
            </a:pPr>
            <a:r>
              <a:rPr lang="en-US" dirty="0"/>
              <a:t>Add a dedicated exception-handling path with the decision: </a:t>
            </a:r>
            <a:r>
              <a:rPr lang="en-US" b="1" dirty="0"/>
              <a:t>“Did a system/application exception occur?”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</a:t>
            </a:r>
            <a:r>
              <a:rPr lang="en-US" b="1" dirty="0"/>
              <a:t>NO</a:t>
            </a:r>
            <a:r>
              <a:rPr lang="en-US" dirty="0"/>
              <a:t>, continue with the normal process.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</a:t>
            </a:r>
            <a:r>
              <a:rPr lang="en-US" b="1" dirty="0"/>
              <a:t>YES</a:t>
            </a:r>
            <a:r>
              <a:rPr lang="en-US" dirty="0"/>
              <a:t>, capture the exception details and enter the retry mechanism.</a:t>
            </a:r>
          </a:p>
          <a:p>
            <a:pPr>
              <a:buFont typeface="+mj-lt"/>
              <a:buAutoNum type="arabicPeriod" startAt="28"/>
            </a:pPr>
            <a:r>
              <a:rPr lang="en-US" dirty="0"/>
              <a:t>The retry mechanism must allow a maximum of three execution attempts for the failed operation, according to the configured retry policy.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Attempt 1: Execute or retry the failed operation.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Attempt 2: If the operation fails again, retry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Attempt 3: If the operation fails again, stop automatic processing for that case.</a:t>
            </a:r>
          </a:p>
          <a:p>
            <a:pPr>
              <a:buFont typeface="+mj-lt"/>
              <a:buAutoNum type="arabicPeriod" startAt="29"/>
            </a:pPr>
            <a:r>
              <a:rPr lang="en-US" dirty="0"/>
              <a:t>Before retrying any CWB submission-creation operation, verify whether the previous attempt already created a submission. This is</a:t>
            </a:r>
          </a:p>
          <a:p>
            <a:pPr marL="0" indent="0">
              <a:buNone/>
            </a:pPr>
            <a:r>
              <a:rPr lang="en-US" dirty="0"/>
              <a:t>      essential to prevent duplicate submissions when an application error occurs after CWB has successfully processed the request.</a:t>
            </a:r>
          </a:p>
          <a:p>
            <a:pPr marL="0" indent="0">
              <a:buNone/>
            </a:pPr>
            <a:r>
              <a:rPr lang="en-US" dirty="0"/>
              <a:t>30. Add a decision diamond: </a:t>
            </a:r>
            <a:r>
              <a:rPr lang="en-US" b="1" dirty="0"/>
              <a:t>“Did the operation succeed within three attempts?”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YES:</a:t>
            </a:r>
            <a:r>
              <a:rPr lang="en-US" dirty="0"/>
              <a:t> Verify the result and resume the workflow from the correct stage.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NO:</a:t>
            </a:r>
            <a:r>
              <a:rPr lang="en-US" dirty="0"/>
              <a:t> Generate a failure report and forward the case to the exception monitoring process.</a:t>
            </a:r>
          </a:p>
          <a:p>
            <a:pPr>
              <a:buFont typeface="+mj-lt"/>
              <a:buAutoNum type="arabicPeriod" startAt="31"/>
            </a:pPr>
            <a:r>
              <a:rPr lang="en-US" dirty="0"/>
              <a:t>Avoid blind retries for non-recoverable errors, invalid data, authentication failures, or uncertain submission outcomes. Route these conditions to the appropriate review process.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8155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A9FAF-12D2-464E-9B8A-EA4C5F2D2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Phase 8: Failure Report and Dedicated Exception Monitoring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7453C-CA0A-4B5E-9672-45102B2EB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+mj-lt"/>
              <a:buAutoNum type="arabicPeriod" startAt="32"/>
            </a:pPr>
            <a:r>
              <a:rPr lang="en-US" sz="1600" dirty="0"/>
              <a:t>When the bot exhausts its retry attempts, generate an automation failure report containing: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Main insured 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Original email or process tracking reference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Failed processing stage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Exception category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Application error message or exception details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Number of attempts made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Date and time of failure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Last known processing status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Submission number, if one was already created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Recommended investigation or follow-up action</a:t>
            </a:r>
          </a:p>
          <a:p>
            <a:pPr>
              <a:buFont typeface="+mj-lt"/>
              <a:buAutoNum type="arabicPeriod" startAt="33"/>
            </a:pPr>
            <a:r>
              <a:rPr lang="en-US" sz="1600" dirty="0"/>
              <a:t>Forward the failed-case report and relevant reference details to the dedicated exception monitoring mailbox.</a:t>
            </a:r>
          </a:p>
          <a:p>
            <a:pPr>
              <a:buFont typeface="+mj-lt"/>
              <a:buAutoNum type="arabicPeriod" startAt="33"/>
            </a:pPr>
            <a:r>
              <a:rPr lang="en-US" sz="1600" dirty="0"/>
              <a:t>Update the request status to “Failed — System/Application Exception.”</a:t>
            </a:r>
          </a:p>
          <a:p>
            <a:pPr>
              <a:buFont typeface="+mj-lt"/>
              <a:buAutoNum type="arabicPeriod" startAt="33"/>
            </a:pPr>
            <a:r>
              <a:rPr lang="en-US" sz="1600" dirty="0"/>
              <a:t>A dedicated employee, referred to as the FD, monitors the exception mailbox.</a:t>
            </a:r>
          </a:p>
          <a:p>
            <a:pPr>
              <a:buFont typeface="+mj-lt"/>
              <a:buAutoNum type="arabicPeriod" startAt="33"/>
            </a:pPr>
            <a:r>
              <a:rPr lang="en-US" sz="1600" dirty="0"/>
              <a:t>The FD reviews the failure report, investigates the application error, and coordinates the required corrective action.</a:t>
            </a:r>
          </a:p>
          <a:p>
            <a:pPr>
              <a:buFont typeface="+mj-lt"/>
              <a:buAutoNum type="arabicPeriod" startAt="33"/>
            </a:pPr>
            <a:r>
              <a:rPr lang="en-US" sz="1600" dirty="0"/>
              <a:t>The FD determines whether the case can be resumed after resolution, requires manual processing, or needs further escalation according to the operational procedure.</a:t>
            </a:r>
          </a:p>
          <a:p>
            <a:pPr>
              <a:buFont typeface="+mj-lt"/>
              <a:buAutoNum type="arabicPeriod" startAt="33"/>
            </a:pPr>
            <a:r>
              <a:rPr lang="en-US" sz="1600" dirty="0"/>
              <a:t>Record the resolution and final outcome in the tracking report.</a:t>
            </a:r>
          </a:p>
          <a:p>
            <a:pPr>
              <a:buFont typeface="+mj-lt"/>
              <a:buAutoNum type="arabicPeriod" startAt="33"/>
            </a:pPr>
            <a:r>
              <a:rPr lang="en-US" sz="1600" dirty="0"/>
              <a:t>Ensure that the same case is not inadvertently submitted again when processing resumes.</a:t>
            </a:r>
          </a:p>
          <a:p>
            <a:pPr>
              <a:buFont typeface="+mj-lt"/>
              <a:buAutoNum type="arabicPeriod" startAt="33"/>
            </a:pPr>
            <a:r>
              <a:rPr lang="en-US" sz="1600" dirty="0"/>
              <a:t>Clearly show that the exception monitoring mailbox and dedicated employee are responsible for failed-case follow-up, rather than silently discarding failed requests.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63766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1736</Words>
  <Application>Microsoft Office PowerPoint</Application>
  <PresentationFormat>Widescreen</PresentationFormat>
  <Paragraphs>141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Project FastTrack Agentic Automation</vt:lpstr>
      <vt:lpstr>Current Process</vt:lpstr>
      <vt:lpstr>1. Agentic Automation Project Overview </vt:lpstr>
      <vt:lpstr>2. Process Participants and System Components</vt:lpstr>
      <vt:lpstr>3. Detailed End-to-End AutomationWorkflow </vt:lpstr>
      <vt:lpstr>Phase 1: Receive the Submission Request </vt:lpstr>
      <vt:lpstr>Phase 2: AI-Powered Information Extraction </vt:lpstr>
      <vt:lpstr>Phase 3: Missing-Information Handling </vt:lpstr>
      <vt:lpstr>Phase 4: Duplicate Submission Check in CWB </vt:lpstr>
      <vt:lpstr>Phase 5A: Duplicate Submission Found </vt:lpstr>
      <vt:lpstr>Phase 5B: No Duplicate Submission Found </vt:lpstr>
      <vt:lpstr>Phase 6: Notify the CAT Modeling Team and Underwriter </vt:lpstr>
      <vt:lpstr>Phase 7: System Exception Handling and Retry Mechanism </vt:lpstr>
      <vt:lpstr>Phase 8: Failure Report and Dedicated Exception Monitoring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FastTrack</dc:title>
  <dc:creator>Subin Suresh</dc:creator>
  <cp:lastModifiedBy>Subin Suresh</cp:lastModifiedBy>
  <cp:revision>54</cp:revision>
  <dcterms:created xsi:type="dcterms:W3CDTF">2026-10-11T11:40:04Z</dcterms:created>
  <dcterms:modified xsi:type="dcterms:W3CDTF">2026-10-11T17:32:58Z</dcterms:modified>
</cp:coreProperties>
</file>